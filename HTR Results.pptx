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7468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Text Recognition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Methods vs. Neural Network Methods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77724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9C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Vladyslav Hnitsa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99C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TDIfu-23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Handwriting Recognition (OCR) — Kaggle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32104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https://www.kaggle.com/datasets/ssarkar445/handwriting-recognitionocr?resource=download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192024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~400,000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7739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name images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298448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14600" y="1298448"/>
            <a:ext cx="192024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14600" y="13898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Splits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14600" y="17739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298448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17720" y="1298448"/>
            <a:ext cx="192024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7720" y="13898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PNG/JPEG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17739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image format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1298448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20840" y="1298448"/>
            <a:ext cx="192024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20840" y="13898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17739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+ IDENTITY labels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2377440"/>
            <a:ext cx="4846320" cy="420624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2377440"/>
            <a:ext cx="4846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of image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40680" y="2377440"/>
            <a:ext cx="3337560" cy="2468880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40680" y="2377440"/>
            <a:ext cx="3337560" cy="42062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40680" y="2377440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in This Study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577840" y="2926080"/>
            <a:ext cx="54864" cy="25603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15000" y="288950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Classical: 25,000 samples (HOG pipeline)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577840" y="3310128"/>
            <a:ext cx="54864" cy="25603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715000" y="327355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Neural: 12,000 samples (CPU-optimised)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577840" y="3694176"/>
            <a:ext cx="54864" cy="25603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715000" y="365760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 (classical)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577840" y="4078224"/>
            <a:ext cx="54864" cy="25603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715000" y="4041648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85/15 train-val split (neural)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577840" y="4462272"/>
            <a:ext cx="54864" cy="25603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715000" y="442569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 — fair comparison</a:t>
            </a:r>
            <a:endParaRPr lang="en-US" sz="115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3AD6BBC-A00F-BF20-4321-62D28E2BE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98" y="2944368"/>
            <a:ext cx="4356084" cy="95097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981DCAA-80AB-87E4-014D-CF2B80FA3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579" y="4028464"/>
            <a:ext cx="3918294" cy="689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840480" cy="3749040"/>
          </a:xfrm>
          <a:prstGeom prst="rect">
            <a:avLst/>
          </a:prstGeom>
          <a:solidFill>
            <a:srgbClr val="EDE9F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4048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METHODS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Preprocessing (binarization, noise removal)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Feature extraction (HOG, histograms)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Classification (SVM / k-NN)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Evaluate: accuracy &amp; speed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2514600"/>
            <a:ext cx="594360" cy="594360"/>
          </a:xfrm>
          <a:prstGeom prst="ellipse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51960" y="2514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960120"/>
            <a:ext cx="3840480" cy="3749040"/>
          </a:xfrm>
          <a:prstGeom prst="rect">
            <a:avLst/>
          </a:prstGeom>
          <a:solidFill>
            <a:srgbClr val="CCFB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37760" y="960120"/>
            <a:ext cx="384048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METHODS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15544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Data prep (normalization, encoding)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228600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Model selection (CNN / CRNN)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30175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Train with CTC loss + optimizer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37490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Evaluate: WER &amp; CER metrics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Methods  |  Step 1: Preprocessing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974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9748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Binarization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42316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grayscale image to black &amp; white using Otsu's adaptive thresholding. Separates ink pixels from background reliably across varying illumination conditions.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974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97480" cy="50292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0058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Noise Removal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600200"/>
            <a:ext cx="242316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morphological operations (erosion, dilation, opening) to eliminate speckles, small artifacts, and structural gaps caused by scanning imperfections.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0760" y="1005840"/>
            <a:ext cx="269748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697480" cy="50292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80760" y="10058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Geometric Deskewing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600200"/>
            <a:ext cx="242316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text line orientation using Hough transform or projection profiles, then rotate the image to achieve horizontal alignment for uniform processing.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Methods  |  Steps 2–3: Feature Extraction &amp; Classification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09728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463040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(Histogram of Gradients)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170992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edge directions across image cells. Robust to lighting and color variation.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67712"/>
            <a:ext cx="109728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2267712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Histograms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25146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Horizontal/vertical pixel density profiles reveal character stroke distributions.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072384"/>
            <a:ext cx="109728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3072384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331927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loops, endpoints, and crossings encode structural letter properties.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877056"/>
            <a:ext cx="109728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877056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" y="4123944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Sobel/Canny operators extract boundary gradients for shape description.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697480"/>
            <a:ext cx="457200" cy="1097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80560" y="2514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709160" y="91440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914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92040" y="1508760"/>
            <a:ext cx="3749040" cy="1371600"/>
          </a:xfrm>
          <a:prstGeom prst="rect">
            <a:avLst/>
          </a:prstGeom>
          <a:solidFill>
            <a:srgbClr val="EDE9F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(Support Vector Machine)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19202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finds optimal hyperplane separating character classes in HOG feature space. C=1.0 soft-margin tuning handles noise.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92040" y="3108960"/>
            <a:ext cx="3749040" cy="1371600"/>
          </a:xfrm>
          <a:prstGeom prst="rect">
            <a:avLst/>
          </a:prstGeom>
          <a:solidFill>
            <a:srgbClr val="EDE9F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3200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(k-Nearest Neighbors)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35204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label based on majority vote of the k most similar training feature vectors. Simple but effective for small alphabets.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Methods  |  Steps 1–2: Data Prep &amp; Model Selection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intensities scaled to [0, 1]. CLAHE contrast enhancement applied for faded handwriting.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6060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images standardized to 256×64 px using cubic interpolation, preserving stroke proportions.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154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Encoding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429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mapped to integer indices. CTC blank token added at index 0 for alignment.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977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251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(p=0.3) injected during training to improve generalization across writers.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91440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914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(CRNN)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46320" y="1481328"/>
            <a:ext cx="3794760" cy="4572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148132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14813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image 1×64×256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2029968"/>
            <a:ext cx="379476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202996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CNN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0" y="20299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blocks extract spatial features (32→512 channels)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2578608"/>
            <a:ext cx="3794760" cy="4572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257860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Pool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0" y="25786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collapsed → 1, width preserved as time steps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3127248"/>
            <a:ext cx="3794760" cy="45720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312724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0" y="312724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512 → 256 hidden dimensions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675888"/>
            <a:ext cx="3794760" cy="45720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92040" y="3675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BGRU ×2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0" y="36758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GRU captures left-right sequence context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4224528"/>
            <a:ext cx="3794760" cy="457200"/>
          </a:xfrm>
          <a:prstGeom prst="rect">
            <a:avLst/>
          </a:prstGeom>
          <a:solidFill>
            <a:srgbClr val="99F6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92040" y="422452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+ Softmax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43600" y="42245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 probabilities over vocabulary at each step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Methods  |  Step 3: Training &amp; Optimization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325880"/>
          </a:xfrm>
          <a:prstGeom prst="rect">
            <a:avLst/>
          </a:prstGeom>
          <a:solidFill>
            <a:srgbClr val="CCFB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Loss (Connectionist Temporal Classification)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enables training on unsegmented sequences — the model outputs one prediction per time step, and CTC sums over all valid alignments between output sequences and ground truth labels. A blank token (index 0) allows flexible character spacing without explicit segmentation.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423160"/>
            <a:ext cx="27432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2423160"/>
            <a:ext cx="2743200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443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741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weight decay (1e-3)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039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LR: 1e-3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3367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sparse gradients well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27832" y="2423160"/>
            <a:ext cx="27432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27832" y="2423160"/>
            <a:ext cx="2743200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27832" y="24231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Schedule: Cosine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64992" y="29443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CosineAnnealingLR policy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64992" y="33741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T_max = 10 epochs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64992" y="38039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eta_min = 1e-5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64992" y="423367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LR stagnation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35624" y="2423160"/>
            <a:ext cx="27432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35624" y="2423160"/>
            <a:ext cx="2743200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35624" y="24231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72784" y="29443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 (max=1.0)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72784" y="33741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in GRU layers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72784" y="38039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noise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72784" y="423367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= 64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runs for 30 epochs with real-time loss monitoring and NaN/Inf gradient protection.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Evaluation Metrics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FFE4E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051560"/>
            <a:ext cx="777240" cy="41148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03327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Error Rate (CER)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033272"/>
            <a:ext cx="2423160" cy="438912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0" y="103327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 = (S + D + I) / 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1417320"/>
            <a:ext cx="7178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average error at the character level using edit distance. S = substitutions, D = deletions, I = insertions, N = total characters in ground truth.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8412480" cy="1188720"/>
          </a:xfrm>
          <a:prstGeom prst="rect">
            <a:avLst/>
          </a:prstGeom>
          <a:solidFill>
            <a:srgbClr val="FEF3C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91440" cy="1188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377440"/>
            <a:ext cx="77724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37744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23591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Error Rate (WER)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2359152"/>
            <a:ext cx="2423160" cy="43891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235915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WER = (Sw + Dw + Iw) / Nw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2743200"/>
            <a:ext cx="7178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incorrectly recognized full words. Each word-level substitution, deletion, or insertion counts as one error. Stricter than CER.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solidFill>
            <a:srgbClr val="CCFB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91440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" y="3703320"/>
            <a:ext cx="77724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70332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36850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Accuracy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3685032"/>
            <a:ext cx="2423160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368503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Exact Matches / Total Samples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63040" y="4069080"/>
            <a:ext cx="7178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samples where the complete predicted string exactly matches the ground truth. The most stringent metric — a single wrong character fails the entire word.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316736"/>
            <a:ext cx="8412480" cy="457200"/>
          </a:xfrm>
          <a:prstGeom prst="rect">
            <a:avLst/>
          </a:prstGeom>
          <a:solidFill>
            <a:srgbClr val="0F20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3167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65960" y="131673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03320" y="13167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57800" y="131673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Methods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95160" y="13167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19656"/>
            <a:ext cx="841248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819656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(%)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0" y="1947672"/>
            <a:ext cx="1645920" cy="438912"/>
          </a:xfrm>
          <a:prstGeom prst="rect">
            <a:avLst/>
          </a:prstGeom>
          <a:solidFill>
            <a:srgbClr val="E2E8F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11680" y="194767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14.91%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1947672"/>
            <a:ext cx="1463040" cy="43891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49040" y="194767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25%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0" y="1947672"/>
            <a:ext cx="1645920" cy="438912"/>
          </a:xfrm>
          <a:prstGeom prst="rect">
            <a:avLst/>
          </a:prstGeom>
          <a:solidFill>
            <a:srgbClr val="E2E8F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03520" y="194767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5.06%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40880" y="1947672"/>
            <a:ext cx="1645920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0" y="194767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8412480" cy="7132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596896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(%)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011680" y="2724912"/>
            <a:ext cx="1645920" cy="438912"/>
          </a:xfrm>
          <a:prstGeom prst="rect">
            <a:avLst/>
          </a:prstGeom>
          <a:solidFill>
            <a:srgbClr val="E2E8F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11680" y="272491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19.64%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749040" y="2724912"/>
            <a:ext cx="1463040" cy="43891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49040" y="272491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03520" y="2724912"/>
            <a:ext cx="1645920" cy="438912"/>
          </a:xfrm>
          <a:prstGeom prst="rect">
            <a:avLst/>
          </a:prstGeom>
          <a:solidFill>
            <a:srgbClr val="E2E8F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0" y="272491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19.70%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040880" y="2724912"/>
            <a:ext cx="1645920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40880" y="272491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3374136"/>
            <a:ext cx="841248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374136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(%)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011680" y="3502152"/>
            <a:ext cx="1645920" cy="438912"/>
          </a:xfrm>
          <a:prstGeom prst="rect">
            <a:avLst/>
          </a:prstGeom>
          <a:solidFill>
            <a:srgbClr val="E2E8F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011680" y="35021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ru-RU" sz="1400" dirty="0"/>
              <a:t>80</a:t>
            </a:r>
            <a:r>
              <a:rPr lang="en-US" sz="1400" dirty="0"/>
              <a:t>.</a:t>
            </a:r>
            <a:r>
              <a:rPr lang="ru-RU" sz="1400" dirty="0"/>
              <a:t>36</a:t>
            </a:r>
            <a:r>
              <a:rPr lang="en-US" sz="1400" dirty="0"/>
              <a:t>%</a:t>
            </a:r>
          </a:p>
        </p:txBody>
      </p:sp>
      <p:sp>
        <p:nvSpPr>
          <p:cNvPr id="33" name="Shape 31"/>
          <p:cNvSpPr/>
          <p:nvPr/>
        </p:nvSpPr>
        <p:spPr>
          <a:xfrm>
            <a:off x="3749040" y="3502152"/>
            <a:ext cx="1463040" cy="43891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749040" y="350215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75%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303520" y="3502152"/>
            <a:ext cx="1645920" cy="438912"/>
          </a:xfrm>
          <a:prstGeom prst="rect">
            <a:avLst/>
          </a:prstGeom>
          <a:solidFill>
            <a:srgbClr val="E2E8F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03520" y="35021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80.30%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040880" y="3502152"/>
            <a:ext cx="1645920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040880" y="35021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94%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329184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Methods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pipeline with clear steps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40487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inference; no GPU required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93522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careful feature engineering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46557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scalability for complex scripts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9959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CER&lt;25%, WER&gt;70%, Acc&gt;75%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114800" cy="3291840"/>
          </a:xfrm>
          <a:prstGeom prst="rect">
            <a:avLst/>
          </a:prstGeom>
          <a:solidFill>
            <a:srgbClr val="162D5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411480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325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Methods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187452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learning from raw pixels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92040" y="240487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CRNN handles variable-length sequences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92040" y="293522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loss eliminates pre-segmentation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92040" y="346557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with sufficient data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92040" y="39959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CER&lt;10%, WER&gt;90%, Acc&gt;94%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935</Words>
  <Application>Microsoft Office PowerPoint</Application>
  <PresentationFormat>On-screen Show (16:9)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Handwritten Text Recognition: Classical vs Neural Network Methods</dc:title>
  <dc:subject>PptxGenJS Presentation</dc:subject>
  <dc:creator>PptxGenJS</dc:creator>
  <cp:lastModifiedBy>315 - Vlad Hnitsa</cp:lastModifiedBy>
  <cp:revision>5</cp:revision>
  <dcterms:created xsi:type="dcterms:W3CDTF">2026-05-17T21:38:50Z</dcterms:created>
  <dcterms:modified xsi:type="dcterms:W3CDTF">2026-05-18T05:52:31Z</dcterms:modified>
</cp:coreProperties>
</file>